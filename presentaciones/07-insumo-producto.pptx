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66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332296-05AB-4B89-9E8B-86852592119D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CFD00E-CF97-4DD1-B907-445B89ED73D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987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Imagine the table is the market.</a:t>
            </a:r>
            <a:endParaRPr lang="es-G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4FA66-88C8-4FD7-8174-0D510D6DEA86}" type="slidenum">
              <a:rPr lang="es-GT" smtClean="0"/>
              <a:t>2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80455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25EFE-22CE-991E-7452-31C4F83037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4CA499-A48B-DE20-EB4F-07F288D55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57A0A3-7624-A2AF-4E20-40264CA66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332E2-EB6E-4C31-97F9-ED1F92F0699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8C4DE5-3952-9276-8733-ABE552F3A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86D9D7-5111-B586-27DF-1ABAC0BFC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1613B-322D-4FB4-A59B-DFE944BB3E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213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79830-5E28-4353-025C-A8C85A9A7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87E6D7-6B5A-EACD-4F63-501808233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A3D4CF-4958-2901-4681-EFC58B5E5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332E2-EB6E-4C31-97F9-ED1F92F0699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25B73F-021B-B068-C676-13C601FDB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83F428-0D4B-2D46-527E-BA4073661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1613B-322D-4FB4-A59B-DFE944BB3E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787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B987AD-576B-FEA6-F993-30F5874A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16CF9D-4CF7-EB1D-B31D-C6FE18AC1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54F232-ED5E-08BB-A822-2F16221E3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332E2-EB6E-4C31-97F9-ED1F92F0699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9857EF-5B4A-0411-5815-53873E8F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3AF1F0-1B5E-0F27-07CD-D36A4027C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1613B-322D-4FB4-A59B-DFE944BB3E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88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B10464-799A-7724-EEC1-08A9240D8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B2CA65-C310-27D0-25C4-DEAD3805E0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AFDE16-0C17-C2BE-035B-C8773B77E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B7EF43A-068D-85A4-FEFC-DF062A8D2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332E2-EB6E-4C31-97F9-ED1F92F0699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60E5E2-2584-6C63-88D3-B3CAFDE46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BA2C159-8495-2ABB-E290-E1897ED3A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1613B-322D-4FB4-A59B-DFE944BB3E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883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A4243-723E-B549-238F-AB1F60D3A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C9648B-3187-F046-9087-4FEF71AD2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C23B035-BFF2-D9D4-4712-72DC83B8C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C573870-5CBA-F1B0-38C7-D6D107FEB8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7CA217F-1956-B2BC-AB4F-1D25E3DF8D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278AA30-A036-C965-101D-9578090F8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332E2-EB6E-4C31-97F9-ED1F92F0699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63B2572-05BF-2F22-3A9E-DBBB95D9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2640252-455F-FDFC-A1FB-2A98C0F53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1613B-322D-4FB4-A59B-DFE944BB3E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4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F79728-8D96-C6F4-56FB-04AE11E24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C76156A-C3F8-BE04-76C3-72D862DE2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332E2-EB6E-4C31-97F9-ED1F92F0699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B74951F-31D9-79B1-A282-E9E008F6C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7EC07B6-5F0C-894A-3263-0596DD2E6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1613B-322D-4FB4-A59B-DFE944BB3E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33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6775237-7054-88FC-A758-0F8B2C4C1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332E2-EB6E-4C31-97F9-ED1F92F0699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B047B06-3EE2-A869-F88E-F4C39DEEB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B4582CF-D49A-F2CA-89B9-3BAD6387B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1613B-322D-4FB4-A59B-DFE944BB3E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077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403F8-9D4E-83C4-608E-DEA018778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0B275A-6497-8BFF-8103-7A63CBF45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CC740C6-D0D0-2D60-C973-8416613CD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B442B9-4516-0BF9-ED71-D9D7DDED8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332E2-EB6E-4C31-97F9-ED1F92F0699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F36766-EC51-B7DA-7070-1552B11DD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29A4F9-FDE6-3A53-9CB9-00A08B44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1613B-322D-4FB4-A59B-DFE944BB3E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05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B4974D-3A5C-D6C5-E59A-1EFC85E13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7F20274-F794-D140-B7D8-A0161F2F38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7945EF-E611-5C53-A274-685CABDFA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75C41E-D9BE-1037-B806-D8AF123A9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332E2-EB6E-4C31-97F9-ED1F92F0699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957790-CF3B-1865-1386-1E97A9EEC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34C636-4317-7E45-99C7-D8EA265D5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1613B-322D-4FB4-A59B-DFE944BB3E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23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36A88-1D46-DE16-9794-0BDDCF649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50CABA-958C-561A-4B2F-AAE767ECC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37BE86-2760-D416-711D-C33619235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332E2-EB6E-4C31-97F9-ED1F92F0699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6D2750-03F7-2F19-2AE6-7AA070C3C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C4DC6C-C5E0-7D59-4C0B-B46A1838E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1613B-322D-4FB4-A59B-DFE944BB3E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174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FD9BEC-064C-A8FE-01ED-C30DA8FDA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BB45CF6-743D-2B1E-9442-334BEF8F9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FB5486-D75F-8810-9029-12F5DE772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332E2-EB6E-4C31-97F9-ED1F92F0699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3F0AAD-EBC0-9B77-306E-BDCD231C8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8577BB-60BA-FAAA-B8DB-76DED1BD0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1613B-322D-4FB4-A59B-DFE944BB3E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8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DD32C73-FA46-888F-EA4B-82981F1DB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F6A9CB-A3FE-897D-E9C7-92390E6A0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97C020-CDCE-5270-5943-FCEED7AEF7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B332E2-EB6E-4C31-97F9-ED1F92F0699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A73B00-7CC7-212C-1F75-8F6498CFD2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55E97C-C39D-D792-34D0-949FBFFE5D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81613B-322D-4FB4-A59B-DFE944BB3E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947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17" Type="http://schemas.openxmlformats.org/officeDocument/2006/relationships/image" Target="../media/image15.jpeg"/><Relationship Id="rId25" Type="http://schemas.openxmlformats.org/officeDocument/2006/relationships/image" Target="../media/image23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24" Type="http://schemas.openxmlformats.org/officeDocument/2006/relationships/image" Target="../media/image22.jpeg"/><Relationship Id="rId5" Type="http://schemas.openxmlformats.org/officeDocument/2006/relationships/image" Target="../media/image3.jpe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A5CC95-41F5-4BAC-D45C-E7C211E452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Insumo-Producto</a:t>
            </a:r>
            <a:r>
              <a:rPr lang="en-US" dirty="0"/>
              <a:t> </a:t>
            </a:r>
            <a:r>
              <a:rPr lang="en-US" dirty="0" err="1"/>
              <a:t>Satélite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5ED5D8-9C7D-1CDC-B094-D0BE17E092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Renato Vargas</a:t>
            </a:r>
          </a:p>
        </p:txBody>
      </p:sp>
    </p:spTree>
    <p:extLst>
      <p:ext uri="{BB962C8B-B14F-4D97-AF65-F5344CB8AC3E}">
        <p14:creationId xmlns:p14="http://schemas.microsoft.com/office/powerpoint/2010/main" val="2015905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8C86E2F-62EE-49A6-BCC8-17A6A1762D73}"/>
              </a:ext>
            </a:extLst>
          </p:cNvPr>
          <p:cNvGraphicFramePr>
            <a:graphicFrameLocks noGrp="1"/>
          </p:cNvGraphicFramePr>
          <p:nvPr/>
        </p:nvGraphicFramePr>
        <p:xfrm>
          <a:off x="3376470" y="2261921"/>
          <a:ext cx="3657600" cy="4572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135854164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5557076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7316269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50856608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G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G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94523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G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G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198085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G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G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28301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G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G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85899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884084"/>
                  </a:ext>
                </a:extLst>
              </a:tr>
            </a:tbl>
          </a:graphicData>
        </a:graphic>
      </p:graphicFrame>
      <p:grpSp>
        <p:nvGrpSpPr>
          <p:cNvPr id="89" name="Group 88">
            <a:extLst>
              <a:ext uri="{FF2B5EF4-FFF2-40B4-BE49-F238E27FC236}">
                <a16:creationId xmlns:a16="http://schemas.microsoft.com/office/drawing/2014/main" id="{F199BE98-373B-42DC-A80D-D2B0F0E1E6FE}"/>
              </a:ext>
            </a:extLst>
          </p:cNvPr>
          <p:cNvGrpSpPr/>
          <p:nvPr/>
        </p:nvGrpSpPr>
        <p:grpSpPr>
          <a:xfrm>
            <a:off x="905069" y="121294"/>
            <a:ext cx="2976469" cy="2351319"/>
            <a:chOff x="905069" y="121294"/>
            <a:chExt cx="2976469" cy="2351319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75A9214-07D8-4D06-8501-3C63C46C2D93}"/>
                </a:ext>
              </a:extLst>
            </p:cNvPr>
            <p:cNvCxnSpPr/>
            <p:nvPr/>
          </p:nvCxnSpPr>
          <p:spPr>
            <a:xfrm flipH="1">
              <a:off x="905069" y="2472612"/>
              <a:ext cx="651559" cy="0"/>
            </a:xfrm>
            <a:prstGeom prst="line">
              <a:avLst/>
            </a:prstGeom>
            <a:ln w="762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3EEB502-CF24-4C71-B74F-3ED810E5D7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5069" y="186611"/>
              <a:ext cx="0" cy="2286002"/>
            </a:xfrm>
            <a:prstGeom prst="line">
              <a:avLst/>
            </a:prstGeom>
            <a:ln w="762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01983E4-FC7E-42B4-BC7A-4605640D2B1F}"/>
                </a:ext>
              </a:extLst>
            </p:cNvPr>
            <p:cNvCxnSpPr>
              <a:cxnSpLocks/>
            </p:cNvCxnSpPr>
            <p:nvPr/>
          </p:nvCxnSpPr>
          <p:spPr>
            <a:xfrm>
              <a:off x="905069" y="121294"/>
              <a:ext cx="2976469" cy="0"/>
            </a:xfrm>
            <a:prstGeom prst="line">
              <a:avLst/>
            </a:prstGeom>
            <a:ln w="762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22AFABC9-3C8B-4809-A688-B7056DC41061}"/>
                </a:ext>
              </a:extLst>
            </p:cNvPr>
            <p:cNvCxnSpPr>
              <a:cxnSpLocks/>
            </p:cNvCxnSpPr>
            <p:nvPr/>
          </p:nvCxnSpPr>
          <p:spPr>
            <a:xfrm>
              <a:off x="3881538" y="130625"/>
              <a:ext cx="0" cy="737120"/>
            </a:xfrm>
            <a:prstGeom prst="straightConnector1">
              <a:avLst/>
            </a:prstGeom>
            <a:ln w="76200">
              <a:solidFill>
                <a:srgbClr val="00B05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E76EA6E-A384-4454-8197-22C0192CC884}"/>
              </a:ext>
            </a:extLst>
          </p:cNvPr>
          <p:cNvGrpSpPr/>
          <p:nvPr/>
        </p:nvGrpSpPr>
        <p:grpSpPr>
          <a:xfrm>
            <a:off x="671804" y="283868"/>
            <a:ext cx="4024945" cy="3321700"/>
            <a:chOff x="671804" y="283868"/>
            <a:chExt cx="4024945" cy="3321700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095E8F6-5C75-4B34-B16A-AC41D6E2DB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1804" y="3605568"/>
              <a:ext cx="884825" cy="0"/>
            </a:xfrm>
            <a:prstGeom prst="line">
              <a:avLst/>
            </a:prstGeom>
            <a:ln w="7620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A6BA007-0DEF-4F0A-A084-653C4AE2FF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804" y="349185"/>
              <a:ext cx="0" cy="3256383"/>
            </a:xfrm>
            <a:prstGeom prst="line">
              <a:avLst/>
            </a:prstGeom>
            <a:ln w="7620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63B87105-F33C-4219-AD4C-A280266E1E56}"/>
                </a:ext>
              </a:extLst>
            </p:cNvPr>
            <p:cNvCxnSpPr>
              <a:cxnSpLocks/>
            </p:cNvCxnSpPr>
            <p:nvPr/>
          </p:nvCxnSpPr>
          <p:spPr>
            <a:xfrm>
              <a:off x="4696749" y="293199"/>
              <a:ext cx="0" cy="574546"/>
            </a:xfrm>
            <a:prstGeom prst="straightConnector1">
              <a:avLst/>
            </a:prstGeom>
            <a:ln w="76200">
              <a:solidFill>
                <a:schemeClr val="accent2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DCB8BC1-BED6-43FA-9248-FBF2C402225B}"/>
                </a:ext>
              </a:extLst>
            </p:cNvPr>
            <p:cNvCxnSpPr>
              <a:cxnSpLocks/>
            </p:cNvCxnSpPr>
            <p:nvPr/>
          </p:nvCxnSpPr>
          <p:spPr>
            <a:xfrm>
              <a:off x="671804" y="283868"/>
              <a:ext cx="4024945" cy="0"/>
            </a:xfrm>
            <a:prstGeom prst="line">
              <a:avLst/>
            </a:prstGeom>
            <a:ln w="7620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70017F14-B1D7-4D78-9C7E-152C43D28420}"/>
              </a:ext>
            </a:extLst>
          </p:cNvPr>
          <p:cNvGrpSpPr/>
          <p:nvPr/>
        </p:nvGrpSpPr>
        <p:grpSpPr>
          <a:xfrm>
            <a:off x="419878" y="475859"/>
            <a:ext cx="5244733" cy="4073155"/>
            <a:chOff x="419878" y="475859"/>
            <a:chExt cx="5244733" cy="4073155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8ABFA544-5D9E-4DC7-93BD-ADDC46F62E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9878" y="4549013"/>
              <a:ext cx="1136750" cy="0"/>
            </a:xfrm>
            <a:prstGeom prst="line">
              <a:avLst/>
            </a:prstGeom>
            <a:ln w="76200">
              <a:solidFill>
                <a:schemeClr val="accent4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AB51035-2CFD-488D-AED7-91BFE72C61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9878" y="541176"/>
              <a:ext cx="0" cy="4007838"/>
            </a:xfrm>
            <a:prstGeom prst="line">
              <a:avLst/>
            </a:prstGeom>
            <a:ln w="76200">
              <a:solidFill>
                <a:schemeClr val="accent4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4DDBDBA3-DF0C-4750-BF4D-92B92F2CE179}"/>
                </a:ext>
              </a:extLst>
            </p:cNvPr>
            <p:cNvCxnSpPr>
              <a:cxnSpLocks/>
            </p:cNvCxnSpPr>
            <p:nvPr/>
          </p:nvCxnSpPr>
          <p:spPr>
            <a:xfrm>
              <a:off x="5664611" y="485190"/>
              <a:ext cx="0" cy="382555"/>
            </a:xfrm>
            <a:prstGeom prst="straightConnector1">
              <a:avLst/>
            </a:prstGeom>
            <a:ln w="76200">
              <a:solidFill>
                <a:schemeClr val="accent4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AE3E643-43EF-4540-A88F-891D3AF327EA}"/>
                </a:ext>
              </a:extLst>
            </p:cNvPr>
            <p:cNvCxnSpPr>
              <a:cxnSpLocks/>
            </p:cNvCxnSpPr>
            <p:nvPr/>
          </p:nvCxnSpPr>
          <p:spPr>
            <a:xfrm>
              <a:off x="419878" y="475859"/>
              <a:ext cx="5244733" cy="0"/>
            </a:xfrm>
            <a:prstGeom prst="line">
              <a:avLst/>
            </a:prstGeom>
            <a:ln w="76200">
              <a:solidFill>
                <a:schemeClr val="accent4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2C2E090-A1BC-43C0-93F7-71D802E6F628}"/>
              </a:ext>
            </a:extLst>
          </p:cNvPr>
          <p:cNvGrpSpPr/>
          <p:nvPr/>
        </p:nvGrpSpPr>
        <p:grpSpPr>
          <a:xfrm>
            <a:off x="2485478" y="2310328"/>
            <a:ext cx="805022" cy="2452125"/>
            <a:chOff x="2485478" y="2310328"/>
            <a:chExt cx="805022" cy="2452125"/>
          </a:xfrm>
        </p:grpSpPr>
        <p:sp>
          <p:nvSpPr>
            <p:cNvPr id="58" name="Arrow: Right 57">
              <a:extLst>
                <a:ext uri="{FF2B5EF4-FFF2-40B4-BE49-F238E27FC236}">
                  <a16:creationId xmlns:a16="http://schemas.microsoft.com/office/drawing/2014/main" id="{4030F21F-5A06-4A42-B938-3435F02B84D4}"/>
                </a:ext>
              </a:extLst>
            </p:cNvPr>
            <p:cNvSpPr/>
            <p:nvPr/>
          </p:nvSpPr>
          <p:spPr>
            <a:xfrm>
              <a:off x="2485478" y="2310328"/>
              <a:ext cx="784501" cy="578360"/>
            </a:xfrm>
            <a:prstGeom prst="right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vende</a:t>
              </a:r>
              <a:endParaRPr lang="es-GT" sz="1400" dirty="0">
                <a:solidFill>
                  <a:schemeClr val="tx1"/>
                </a:solidFill>
              </a:endParaRPr>
            </a:p>
          </p:txBody>
        </p:sp>
        <p:sp>
          <p:nvSpPr>
            <p:cNvPr id="76" name="Arrow: Right 75">
              <a:extLst>
                <a:ext uri="{FF2B5EF4-FFF2-40B4-BE49-F238E27FC236}">
                  <a16:creationId xmlns:a16="http://schemas.microsoft.com/office/drawing/2014/main" id="{D7B3FF46-3654-4EF0-A26F-8F0E7CF808ED}"/>
                </a:ext>
              </a:extLst>
            </p:cNvPr>
            <p:cNvSpPr/>
            <p:nvPr/>
          </p:nvSpPr>
          <p:spPr>
            <a:xfrm>
              <a:off x="2505999" y="3316388"/>
              <a:ext cx="784501" cy="578360"/>
            </a:xfrm>
            <a:prstGeom prst="right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vende</a:t>
              </a:r>
              <a:endParaRPr lang="es-GT" sz="1400" dirty="0">
                <a:solidFill>
                  <a:schemeClr val="tx1"/>
                </a:solidFill>
              </a:endParaRPr>
            </a:p>
          </p:txBody>
        </p:sp>
        <p:sp>
          <p:nvSpPr>
            <p:cNvPr id="77" name="Arrow: Right 76">
              <a:extLst>
                <a:ext uri="{FF2B5EF4-FFF2-40B4-BE49-F238E27FC236}">
                  <a16:creationId xmlns:a16="http://schemas.microsoft.com/office/drawing/2014/main" id="{9F555A45-1D82-4272-B51E-6BB6F53F687E}"/>
                </a:ext>
              </a:extLst>
            </p:cNvPr>
            <p:cNvSpPr/>
            <p:nvPr/>
          </p:nvSpPr>
          <p:spPr>
            <a:xfrm>
              <a:off x="2505999" y="4184093"/>
              <a:ext cx="784501" cy="578360"/>
            </a:xfrm>
            <a:prstGeom prst="right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vende</a:t>
              </a:r>
              <a:endParaRPr lang="es-GT" sz="14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48739E2-F3EA-476F-8B42-1A646B1D1BC9}"/>
              </a:ext>
            </a:extLst>
          </p:cNvPr>
          <p:cNvCxnSpPr>
            <a:cxnSpLocks/>
          </p:cNvCxnSpPr>
          <p:nvPr/>
        </p:nvCxnSpPr>
        <p:spPr>
          <a:xfrm>
            <a:off x="6112529" y="130625"/>
            <a:ext cx="0" cy="4899936"/>
          </a:xfrm>
          <a:prstGeom prst="line">
            <a:avLst/>
          </a:prstGeom>
          <a:ln w="762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121A25B-4E3C-4ABD-AD2A-74C72EE02F7C}"/>
              </a:ext>
            </a:extLst>
          </p:cNvPr>
          <p:cNvCxnSpPr>
            <a:cxnSpLocks/>
          </p:cNvCxnSpPr>
          <p:nvPr/>
        </p:nvCxnSpPr>
        <p:spPr>
          <a:xfrm>
            <a:off x="364482" y="5042998"/>
            <a:ext cx="11413536" cy="0"/>
          </a:xfrm>
          <a:prstGeom prst="line">
            <a:avLst/>
          </a:prstGeom>
          <a:ln w="762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01C5DB2-C6EF-4B28-9FF9-1E98F0A24CFA}"/>
              </a:ext>
            </a:extLst>
          </p:cNvPr>
          <p:cNvGrpSpPr/>
          <p:nvPr/>
        </p:nvGrpSpPr>
        <p:grpSpPr>
          <a:xfrm>
            <a:off x="78754" y="1591910"/>
            <a:ext cx="2927601" cy="3438651"/>
            <a:chOff x="78754" y="1591910"/>
            <a:chExt cx="2927601" cy="3438651"/>
          </a:xfrm>
        </p:grpSpPr>
        <p:pic>
          <p:nvPicPr>
            <p:cNvPr id="1026" name="Picture 2" descr="Barn silhouette png, Picture #2047176 barn silhouette png">
              <a:extLst>
                <a:ext uri="{FF2B5EF4-FFF2-40B4-BE49-F238E27FC236}">
                  <a16:creationId xmlns:a16="http://schemas.microsoft.com/office/drawing/2014/main" id="{D57D41DF-EB91-4771-8884-2CA32BC3C5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0939" y="2187273"/>
              <a:ext cx="784501" cy="7857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4" descr="Factory - Free buildings icons">
              <a:extLst>
                <a:ext uri="{FF2B5EF4-FFF2-40B4-BE49-F238E27FC236}">
                  <a16:creationId xmlns:a16="http://schemas.microsoft.com/office/drawing/2014/main" id="{0225A29E-C038-4410-829A-264C49F3CD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9666" y="3159659"/>
              <a:ext cx="785774" cy="7857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Office 2010 Icons - Download 665 Free Office 2010 icons here">
              <a:extLst>
                <a:ext uri="{FF2B5EF4-FFF2-40B4-BE49-F238E27FC236}">
                  <a16:creationId xmlns:a16="http://schemas.microsoft.com/office/drawing/2014/main" id="{1D576FA7-82F0-4CE0-80DE-10DA6111A5B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639666" y="4058175"/>
              <a:ext cx="787434" cy="9723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0" name="Picture 16" descr="Agriculture Clipart - corn-field-clipart - Classroom Clipart">
              <a:extLst>
                <a:ext uri="{FF2B5EF4-FFF2-40B4-BE49-F238E27FC236}">
                  <a16:creationId xmlns:a16="http://schemas.microsoft.com/office/drawing/2014/main" id="{0D730A3C-CC3F-4AE5-A243-87D6BAE01D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754" y="2199312"/>
              <a:ext cx="1081982" cy="7857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2" name="Picture 18" descr="Outlined pig | Free SVG">
              <a:extLst>
                <a:ext uri="{FF2B5EF4-FFF2-40B4-BE49-F238E27FC236}">
                  <a16:creationId xmlns:a16="http://schemas.microsoft.com/office/drawing/2014/main" id="{3A88FD83-8F1D-448D-9ADD-DF778A67AB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737457" y="2782623"/>
              <a:ext cx="392710" cy="327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 descr="Color cartoon cow vector drawing | Free SVG">
              <a:extLst>
                <a:ext uri="{FF2B5EF4-FFF2-40B4-BE49-F238E27FC236}">
                  <a16:creationId xmlns:a16="http://schemas.microsoft.com/office/drawing/2014/main" id="{0B00D2CF-5458-4758-8FCF-0F3A092A31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0736" y="2592199"/>
              <a:ext cx="395892" cy="3808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7C46E4C-53BC-44AB-8D5A-05D0D78997B7}"/>
                </a:ext>
              </a:extLst>
            </p:cNvPr>
            <p:cNvSpPr txBox="1"/>
            <p:nvPr/>
          </p:nvSpPr>
          <p:spPr>
            <a:xfrm>
              <a:off x="1160736" y="1591910"/>
              <a:ext cx="18456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err="1"/>
                <a:t>Industrias</a:t>
              </a:r>
              <a:endParaRPr lang="es-GT" sz="2800" b="1" dirty="0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BCBA8C90-D16D-41E4-9D40-5156B1825710}"/>
              </a:ext>
            </a:extLst>
          </p:cNvPr>
          <p:cNvGrpSpPr/>
          <p:nvPr/>
        </p:nvGrpSpPr>
        <p:grpSpPr>
          <a:xfrm>
            <a:off x="3453084" y="821994"/>
            <a:ext cx="977652" cy="1390904"/>
            <a:chOff x="3453084" y="821994"/>
            <a:chExt cx="977652" cy="1390904"/>
          </a:xfrm>
        </p:grpSpPr>
        <p:pic>
          <p:nvPicPr>
            <p:cNvPr id="20" name="Picture 2" descr="Barn silhouette png, Picture #2047176 barn silhouette png">
              <a:extLst>
                <a:ext uri="{FF2B5EF4-FFF2-40B4-BE49-F238E27FC236}">
                  <a16:creationId xmlns:a16="http://schemas.microsoft.com/office/drawing/2014/main" id="{93B44E52-B959-4AF7-B317-6BBF69F386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3084" y="821994"/>
              <a:ext cx="784501" cy="7857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7DC29435-35E1-45FB-94FC-F87D16361152}"/>
                </a:ext>
              </a:extLst>
            </p:cNvPr>
            <p:cNvGrpSpPr/>
            <p:nvPr/>
          </p:nvGrpSpPr>
          <p:grpSpPr>
            <a:xfrm>
              <a:off x="3537543" y="1676905"/>
              <a:ext cx="893193" cy="535993"/>
              <a:chOff x="3537543" y="1676905"/>
              <a:chExt cx="893193" cy="535993"/>
            </a:xfrm>
          </p:grpSpPr>
          <p:sp>
            <p:nvSpPr>
              <p:cNvPr id="75" name="Arrow: Right 74">
                <a:extLst>
                  <a:ext uri="{FF2B5EF4-FFF2-40B4-BE49-F238E27FC236}">
                    <a16:creationId xmlns:a16="http://schemas.microsoft.com/office/drawing/2014/main" id="{69275D3F-31B4-4D54-A421-106C68EEBBBA}"/>
                  </a:ext>
                </a:extLst>
              </p:cNvPr>
              <p:cNvSpPr/>
              <p:nvPr/>
            </p:nvSpPr>
            <p:spPr>
              <a:xfrm rot="16200000">
                <a:off x="3564202" y="1650246"/>
                <a:ext cx="513659" cy="566977"/>
              </a:xfrm>
              <a:prstGeom prst="rightArrow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GT" dirty="0"/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B50F00F-20D0-4ADF-9F82-3AF3AC45279B}"/>
                  </a:ext>
                </a:extLst>
              </p:cNvPr>
              <p:cNvSpPr txBox="1"/>
              <p:nvPr/>
            </p:nvSpPr>
            <p:spPr>
              <a:xfrm>
                <a:off x="3537543" y="1874344"/>
                <a:ext cx="89319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err="1"/>
                  <a:t>compra</a:t>
                </a:r>
                <a:endParaRPr lang="en-US" b="1" dirty="0"/>
              </a:p>
            </p:txBody>
          </p:sp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14248986-F5C3-4A58-99F0-C8667DF3B150}"/>
              </a:ext>
            </a:extLst>
          </p:cNvPr>
          <p:cNvGrpSpPr/>
          <p:nvPr/>
        </p:nvGrpSpPr>
        <p:grpSpPr>
          <a:xfrm>
            <a:off x="4335913" y="812661"/>
            <a:ext cx="1009116" cy="1384808"/>
            <a:chOff x="4335913" y="812661"/>
            <a:chExt cx="1009116" cy="1384808"/>
          </a:xfrm>
        </p:grpSpPr>
        <p:pic>
          <p:nvPicPr>
            <p:cNvPr id="21" name="Picture 4" descr="Factory - Free buildings icons">
              <a:extLst>
                <a:ext uri="{FF2B5EF4-FFF2-40B4-BE49-F238E27FC236}">
                  <a16:creationId xmlns:a16="http://schemas.microsoft.com/office/drawing/2014/main" id="{47EF86C5-A4D0-44C5-AA63-AFB8BDC3F0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5913" y="812661"/>
              <a:ext cx="785774" cy="7857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5" name="Arrow: Right 94">
              <a:extLst>
                <a:ext uri="{FF2B5EF4-FFF2-40B4-BE49-F238E27FC236}">
                  <a16:creationId xmlns:a16="http://schemas.microsoft.com/office/drawing/2014/main" id="{3359B060-FFA1-4A1B-BA5D-FDB6764E57E0}"/>
                </a:ext>
              </a:extLst>
            </p:cNvPr>
            <p:cNvSpPr/>
            <p:nvPr/>
          </p:nvSpPr>
          <p:spPr>
            <a:xfrm rot="16200000">
              <a:off x="4478495" y="1634817"/>
              <a:ext cx="513659" cy="566977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138AD31E-D34D-434D-8C3B-0829EF0D4B26}"/>
                </a:ext>
              </a:extLst>
            </p:cNvPr>
            <p:cNvSpPr txBox="1"/>
            <p:nvPr/>
          </p:nvSpPr>
          <p:spPr>
            <a:xfrm>
              <a:off x="4451836" y="1858915"/>
              <a:ext cx="8931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/>
                <a:t>compra</a:t>
              </a:r>
              <a:endParaRPr lang="en-US" b="1" dirty="0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7F568C7F-A447-4DD8-9FDD-631282E227E3}"/>
              </a:ext>
            </a:extLst>
          </p:cNvPr>
          <p:cNvGrpSpPr/>
          <p:nvPr/>
        </p:nvGrpSpPr>
        <p:grpSpPr>
          <a:xfrm>
            <a:off x="5220015" y="734335"/>
            <a:ext cx="1039866" cy="1463134"/>
            <a:chOff x="5220015" y="734335"/>
            <a:chExt cx="1039866" cy="1463134"/>
          </a:xfrm>
        </p:grpSpPr>
        <p:pic>
          <p:nvPicPr>
            <p:cNvPr id="22" name="Picture 12" descr="Office 2010 Icons - Download 665 Free Office 2010 icons here">
              <a:extLst>
                <a:ext uri="{FF2B5EF4-FFF2-40B4-BE49-F238E27FC236}">
                  <a16:creationId xmlns:a16="http://schemas.microsoft.com/office/drawing/2014/main" id="{582190BB-974F-454E-90BB-3AD503CEB04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220015" y="734335"/>
              <a:ext cx="787434" cy="9723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9" name="Arrow: Right 98">
              <a:extLst>
                <a:ext uri="{FF2B5EF4-FFF2-40B4-BE49-F238E27FC236}">
                  <a16:creationId xmlns:a16="http://schemas.microsoft.com/office/drawing/2014/main" id="{50AE197E-6779-46D0-9823-F5C607F2F7EF}"/>
                </a:ext>
              </a:extLst>
            </p:cNvPr>
            <p:cNvSpPr/>
            <p:nvPr/>
          </p:nvSpPr>
          <p:spPr>
            <a:xfrm rot="16200000">
              <a:off x="5393347" y="1634817"/>
              <a:ext cx="513659" cy="566977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3678676B-F67C-4DB8-B4AE-846BD91F7E15}"/>
                </a:ext>
              </a:extLst>
            </p:cNvPr>
            <p:cNvSpPr txBox="1"/>
            <p:nvPr/>
          </p:nvSpPr>
          <p:spPr>
            <a:xfrm>
              <a:off x="5366688" y="1858915"/>
              <a:ext cx="8931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/>
                <a:t>compra</a:t>
              </a:r>
              <a:endParaRPr lang="en-US" b="1" dirty="0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1EA058EB-EA2C-46D8-941D-21D3BCF7D0D9}"/>
              </a:ext>
            </a:extLst>
          </p:cNvPr>
          <p:cNvGrpSpPr/>
          <p:nvPr/>
        </p:nvGrpSpPr>
        <p:grpSpPr>
          <a:xfrm>
            <a:off x="6344264" y="1665049"/>
            <a:ext cx="893193" cy="535993"/>
            <a:chOff x="6344264" y="1665049"/>
            <a:chExt cx="893193" cy="535993"/>
          </a:xfrm>
        </p:grpSpPr>
        <p:sp>
          <p:nvSpPr>
            <p:cNvPr id="101" name="Arrow: Right 100">
              <a:extLst>
                <a:ext uri="{FF2B5EF4-FFF2-40B4-BE49-F238E27FC236}">
                  <a16:creationId xmlns:a16="http://schemas.microsoft.com/office/drawing/2014/main" id="{7A0ED13B-F7FF-4B73-97B7-81D53EC42B08}"/>
                </a:ext>
              </a:extLst>
            </p:cNvPr>
            <p:cNvSpPr/>
            <p:nvPr/>
          </p:nvSpPr>
          <p:spPr>
            <a:xfrm rot="16200000">
              <a:off x="6370923" y="1638390"/>
              <a:ext cx="513659" cy="566977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879D68AC-45E6-4FAB-89A1-514644B5517B}"/>
                </a:ext>
              </a:extLst>
            </p:cNvPr>
            <p:cNvSpPr txBox="1"/>
            <p:nvPr/>
          </p:nvSpPr>
          <p:spPr>
            <a:xfrm>
              <a:off x="6344264" y="1862488"/>
              <a:ext cx="8931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compra</a:t>
              </a:r>
              <a:endParaRPr lang="en-US" b="1" dirty="0"/>
            </a:p>
          </p:txBody>
        </p:sp>
      </p:grpSp>
      <p:pic>
        <p:nvPicPr>
          <p:cNvPr id="1052" name="Picture 28" descr="Soil with crops | Free SVG">
            <a:extLst>
              <a:ext uri="{FF2B5EF4-FFF2-40B4-BE49-F238E27FC236}">
                <a16:creationId xmlns:a16="http://schemas.microsoft.com/office/drawing/2014/main" id="{F4AAE99D-32F9-4403-846A-50C4E62EC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53084" y="5321361"/>
            <a:ext cx="797691" cy="39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Ocean, rough, sea, seas, wave, waves, weather icon">
            <a:extLst>
              <a:ext uri="{FF2B5EF4-FFF2-40B4-BE49-F238E27FC236}">
                <a16:creationId xmlns:a16="http://schemas.microsoft.com/office/drawing/2014/main" id="{1E02723C-A95D-42EC-B1C8-DF5A93FE9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55150" y="6140564"/>
            <a:ext cx="911012" cy="562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" name="Picture 36" descr="Ocean, rough, sea, seas, wave, waves, weather icon">
            <a:extLst>
              <a:ext uri="{FF2B5EF4-FFF2-40B4-BE49-F238E27FC236}">
                <a16:creationId xmlns:a16="http://schemas.microsoft.com/office/drawing/2014/main" id="{6F4B1DAE-5B80-45E6-B289-1EAB7E887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7504" y="6143079"/>
            <a:ext cx="911012" cy="562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 descr="Cell phone, cellphone, iphone, mobile device, mobile phone, phone ...">
            <a:extLst>
              <a:ext uri="{FF2B5EF4-FFF2-40B4-BE49-F238E27FC236}">
                <a16:creationId xmlns:a16="http://schemas.microsoft.com/office/drawing/2014/main" id="{4599E21B-4D36-4ED9-9825-1905807AC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12543642" y="1136362"/>
            <a:ext cx="100139" cy="100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2" name="Group 111">
            <a:extLst>
              <a:ext uri="{FF2B5EF4-FFF2-40B4-BE49-F238E27FC236}">
                <a16:creationId xmlns:a16="http://schemas.microsoft.com/office/drawing/2014/main" id="{45D51156-3042-4584-BDCE-8E53A1EC92E2}"/>
              </a:ext>
            </a:extLst>
          </p:cNvPr>
          <p:cNvGrpSpPr/>
          <p:nvPr/>
        </p:nvGrpSpPr>
        <p:grpSpPr>
          <a:xfrm>
            <a:off x="6208652" y="2137690"/>
            <a:ext cx="891103" cy="968002"/>
            <a:chOff x="6208652" y="2137690"/>
            <a:chExt cx="891103" cy="968002"/>
          </a:xfrm>
        </p:grpSpPr>
        <p:pic>
          <p:nvPicPr>
            <p:cNvPr id="1074" name="Picture 50" descr="Emojipedia Meat Primal Cut Noto Fonts, PNG, 1024x1024px, Emoji ...">
              <a:extLst>
                <a:ext uri="{FF2B5EF4-FFF2-40B4-BE49-F238E27FC236}">
                  <a16:creationId xmlns:a16="http://schemas.microsoft.com/office/drawing/2014/main" id="{C9455C53-9A47-4D87-90A2-C7640D774C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21448" y="2597459"/>
              <a:ext cx="508233" cy="5082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8" name="Picture 24" descr="Corn svg, Picture #907167 corn svg">
              <a:extLst>
                <a:ext uri="{FF2B5EF4-FFF2-40B4-BE49-F238E27FC236}">
                  <a16:creationId xmlns:a16="http://schemas.microsoft.com/office/drawing/2014/main" id="{F0C49CF4-7C2D-45AD-866C-C326B3EB47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5662" y="2137690"/>
              <a:ext cx="534093" cy="5783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4" name="Picture 40" descr="Cheese | Clip art, Free clip art, Art">
              <a:extLst>
                <a:ext uri="{FF2B5EF4-FFF2-40B4-BE49-F238E27FC236}">
                  <a16:creationId xmlns:a16="http://schemas.microsoft.com/office/drawing/2014/main" id="{A169FB3A-FE37-4F37-A1F4-E86706A870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6208652" y="2346534"/>
              <a:ext cx="397865" cy="4404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A85A945-15D7-4DC2-B7C7-0049B7A98511}"/>
              </a:ext>
            </a:extLst>
          </p:cNvPr>
          <p:cNvGrpSpPr/>
          <p:nvPr/>
        </p:nvGrpSpPr>
        <p:grpSpPr>
          <a:xfrm>
            <a:off x="6164928" y="3252076"/>
            <a:ext cx="934827" cy="817339"/>
            <a:chOff x="6164928" y="3252076"/>
            <a:chExt cx="934827" cy="817339"/>
          </a:xfrm>
        </p:grpSpPr>
        <p:pic>
          <p:nvPicPr>
            <p:cNvPr id="80" name="Picture 79" descr="A picture containing clothing, person, shirt, dress&#10;&#10;Description automatically generated">
              <a:extLst>
                <a:ext uri="{FF2B5EF4-FFF2-40B4-BE49-F238E27FC236}">
                  <a16:creationId xmlns:a16="http://schemas.microsoft.com/office/drawing/2014/main" id="{1902DE09-32F8-4EB6-9D30-80007B923C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499281" y="3468941"/>
              <a:ext cx="600474" cy="600474"/>
            </a:xfrm>
            <a:prstGeom prst="rect">
              <a:avLst/>
            </a:prstGeom>
          </p:spPr>
        </p:pic>
        <p:pic>
          <p:nvPicPr>
            <p:cNvPr id="1084" name="Picture 60" descr="cell phone, cellphone, iphone, mobile device, mobile phone, phone apps, telephone icon">
              <a:extLst>
                <a:ext uri="{FF2B5EF4-FFF2-40B4-BE49-F238E27FC236}">
                  <a16:creationId xmlns:a16="http://schemas.microsoft.com/office/drawing/2014/main" id="{2963FEE7-E012-4371-B9B8-17E8F2E387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64928" y="3252076"/>
              <a:ext cx="477527" cy="4775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86" name="Picture 62" descr="Png File Svg Call Center Vector 6aejw Image Provided - EpiCentro ...">
            <a:extLst>
              <a:ext uri="{FF2B5EF4-FFF2-40B4-BE49-F238E27FC236}">
                <a16:creationId xmlns:a16="http://schemas.microsoft.com/office/drawing/2014/main" id="{9AD31E35-974B-43DE-A6AE-B0C425826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02488" y="4203257"/>
            <a:ext cx="600473" cy="702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2" name="Picture 68" descr="Tractor Icon of Flat style - Available in SVG, PNG, EPS, AI &amp; Icon ...">
            <a:extLst>
              <a:ext uri="{FF2B5EF4-FFF2-40B4-BE49-F238E27FC236}">
                <a16:creationId xmlns:a16="http://schemas.microsoft.com/office/drawing/2014/main" id="{852BF29A-5AA3-4A93-B36E-F0AC49F5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4640" y="3337784"/>
            <a:ext cx="558320" cy="558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9" name="Group 118">
            <a:extLst>
              <a:ext uri="{FF2B5EF4-FFF2-40B4-BE49-F238E27FC236}">
                <a16:creationId xmlns:a16="http://schemas.microsoft.com/office/drawing/2014/main" id="{2E3AD738-A86A-43F4-8628-47800772606C}"/>
              </a:ext>
            </a:extLst>
          </p:cNvPr>
          <p:cNvGrpSpPr/>
          <p:nvPr/>
        </p:nvGrpSpPr>
        <p:grpSpPr>
          <a:xfrm>
            <a:off x="4342973" y="2463299"/>
            <a:ext cx="843349" cy="566942"/>
            <a:chOff x="4342973" y="2463299"/>
            <a:chExt cx="843349" cy="566942"/>
          </a:xfrm>
        </p:grpSpPr>
        <p:pic>
          <p:nvPicPr>
            <p:cNvPr id="1100" name="Picture 76" descr="Wood log clipart vector royalty free stock Wood Log Png - Animated Wooden Log Clipart - Full Size ... vector royalty free stock">
              <a:extLst>
                <a:ext uri="{FF2B5EF4-FFF2-40B4-BE49-F238E27FC236}">
                  <a16:creationId xmlns:a16="http://schemas.microsoft.com/office/drawing/2014/main" id="{DA2B3B55-EDF5-4575-8A5C-0E6E11076A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6382" y="2821073"/>
              <a:ext cx="819940" cy="2091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02" name="Picture 78" descr="Wood log clipart clipart Free Hollow Log Cliparts, Download Free Clip Art, Free Clip Art on ... clipart">
              <a:extLst>
                <a:ext uri="{FF2B5EF4-FFF2-40B4-BE49-F238E27FC236}">
                  <a16:creationId xmlns:a16="http://schemas.microsoft.com/office/drawing/2014/main" id="{6451F12A-676B-45E0-8145-242C389A72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2973" y="2463299"/>
              <a:ext cx="812178" cy="2994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5" name="Picture 84" descr="A picture containing monitor, clock, sitting, screen&#10;&#10;Description automatically generated">
            <a:extLst>
              <a:ext uri="{FF2B5EF4-FFF2-40B4-BE49-F238E27FC236}">
                <a16:creationId xmlns:a16="http://schemas.microsoft.com/office/drawing/2014/main" id="{4F6A5083-F96B-4796-A50C-D5E52D162A82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4341" y="4194498"/>
            <a:ext cx="754796" cy="754796"/>
          </a:xfrm>
          <a:prstGeom prst="rect">
            <a:avLst/>
          </a:prstGeom>
        </p:spPr>
      </p:pic>
      <p:pic>
        <p:nvPicPr>
          <p:cNvPr id="1108" name="Picture 84" descr="Bank box, vault icon">
            <a:extLst>
              <a:ext uri="{FF2B5EF4-FFF2-40B4-BE49-F238E27FC236}">
                <a16:creationId xmlns:a16="http://schemas.microsoft.com/office/drawing/2014/main" id="{07404E85-2640-43E2-96B6-E943F2B24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50227" y="4168820"/>
            <a:ext cx="819940" cy="819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C47208B-516C-4094-BE73-492F51B4E075}"/>
              </a:ext>
            </a:extLst>
          </p:cNvPr>
          <p:cNvGrpSpPr/>
          <p:nvPr/>
        </p:nvGrpSpPr>
        <p:grpSpPr>
          <a:xfrm>
            <a:off x="5273883" y="2360113"/>
            <a:ext cx="686340" cy="638928"/>
            <a:chOff x="5273883" y="2360113"/>
            <a:chExt cx="686340" cy="638928"/>
          </a:xfrm>
        </p:grpSpPr>
        <p:pic>
          <p:nvPicPr>
            <p:cNvPr id="1110" name="Picture 86">
              <a:extLst>
                <a:ext uri="{FF2B5EF4-FFF2-40B4-BE49-F238E27FC236}">
                  <a16:creationId xmlns:a16="http://schemas.microsoft.com/office/drawing/2014/main" id="{5D88FE97-58C9-435A-B899-1108B35935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3883" y="2360113"/>
              <a:ext cx="440094" cy="4400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1" name="Picture 86">
              <a:extLst>
                <a:ext uri="{FF2B5EF4-FFF2-40B4-BE49-F238E27FC236}">
                  <a16:creationId xmlns:a16="http://schemas.microsoft.com/office/drawing/2014/main" id="{53EECA61-4357-47E7-80F4-C3295B9D98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0129" y="2558947"/>
              <a:ext cx="440094" cy="4400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85C7D4C-90AB-4E43-8EF9-F605ADB6FC37}"/>
              </a:ext>
            </a:extLst>
          </p:cNvPr>
          <p:cNvGrpSpPr/>
          <p:nvPr/>
        </p:nvGrpSpPr>
        <p:grpSpPr>
          <a:xfrm>
            <a:off x="233876" y="5132325"/>
            <a:ext cx="2927601" cy="1644949"/>
            <a:chOff x="233876" y="5132325"/>
            <a:chExt cx="2927601" cy="1644949"/>
          </a:xfrm>
        </p:grpSpPr>
        <p:pic>
          <p:nvPicPr>
            <p:cNvPr id="1054" name="Picture 30" descr="Background color sketch free vector download (66,981 Free vector ...">
              <a:extLst>
                <a:ext uri="{FF2B5EF4-FFF2-40B4-BE49-F238E27FC236}">
                  <a16:creationId xmlns:a16="http://schemas.microsoft.com/office/drawing/2014/main" id="{5A4CEE66-C1FF-4344-8CB8-39146F3AAF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597" y="5572667"/>
              <a:ext cx="1702161" cy="12046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A608A399-0618-409F-BAC0-CB5984016EA4}"/>
                </a:ext>
              </a:extLst>
            </p:cNvPr>
            <p:cNvSpPr txBox="1"/>
            <p:nvPr/>
          </p:nvSpPr>
          <p:spPr>
            <a:xfrm>
              <a:off x="233876" y="5132325"/>
              <a:ext cx="2927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El </a:t>
              </a:r>
              <a:r>
                <a:rPr lang="en-US" sz="2800" b="1" dirty="0" err="1"/>
                <a:t>Ambiente</a:t>
              </a:r>
              <a:endParaRPr lang="es-GT" sz="2800" b="1" dirty="0"/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DCA5BE34-077B-4E06-A1AA-013C7DFDF46D}"/>
              </a:ext>
            </a:extLst>
          </p:cNvPr>
          <p:cNvGrpSpPr/>
          <p:nvPr/>
        </p:nvGrpSpPr>
        <p:grpSpPr>
          <a:xfrm>
            <a:off x="6093065" y="90044"/>
            <a:ext cx="2714521" cy="1539186"/>
            <a:chOff x="6093065" y="90044"/>
            <a:chExt cx="2714521" cy="1539186"/>
          </a:xfrm>
        </p:grpSpPr>
        <p:pic>
          <p:nvPicPr>
            <p:cNvPr id="1050" name="Picture 26" descr="People shopping vector free vector download (8,835 Free vector ...">
              <a:extLst>
                <a:ext uri="{FF2B5EF4-FFF2-40B4-BE49-F238E27FC236}">
                  <a16:creationId xmlns:a16="http://schemas.microsoft.com/office/drawing/2014/main" id="{0DCBCB1A-340B-434A-BC80-4D8C571DA8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6393150" y="662619"/>
              <a:ext cx="2162364" cy="9666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E3FA7DA9-0737-428D-8F92-FBBAA3860F08}"/>
                </a:ext>
              </a:extLst>
            </p:cNvPr>
            <p:cNvSpPr txBox="1"/>
            <p:nvPr/>
          </p:nvSpPr>
          <p:spPr>
            <a:xfrm>
              <a:off x="6093065" y="90044"/>
              <a:ext cx="271452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err="1"/>
                <a:t>Hogares</a:t>
              </a:r>
              <a:endParaRPr lang="es-GT" sz="2800" b="1" dirty="0"/>
            </a:p>
          </p:txBody>
        </p:sp>
      </p:grpSp>
      <p:pic>
        <p:nvPicPr>
          <p:cNvPr id="91" name="Picture 90" descr="A close up of a computer&#10;&#10;Description automatically generated">
            <a:extLst>
              <a:ext uri="{FF2B5EF4-FFF2-40B4-BE49-F238E27FC236}">
                <a16:creationId xmlns:a16="http://schemas.microsoft.com/office/drawing/2014/main" id="{CCAEB586-ED5D-4D42-8E05-BC798CA7273B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90010" y="3344112"/>
            <a:ext cx="647444" cy="564355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953532A9-0583-41D4-BE5C-1A6FDB7B2E7A}"/>
              </a:ext>
            </a:extLst>
          </p:cNvPr>
          <p:cNvSpPr txBox="1"/>
          <p:nvPr/>
        </p:nvSpPr>
        <p:spPr>
          <a:xfrm>
            <a:off x="8294922" y="2531384"/>
            <a:ext cx="3225274" cy="33855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Si la </a:t>
            </a:r>
            <a:r>
              <a:rPr lang="en-US" b="1" dirty="0" err="1"/>
              <a:t>demanda</a:t>
            </a:r>
            <a:r>
              <a:rPr lang="en-US" b="1" dirty="0"/>
              <a:t> de </a:t>
            </a:r>
            <a:r>
              <a:rPr lang="en-US" b="1" dirty="0" err="1"/>
              <a:t>esto</a:t>
            </a:r>
            <a:r>
              <a:rPr lang="en-US" b="1" dirty="0"/>
              <a:t> </a:t>
            </a:r>
            <a:r>
              <a:rPr lang="en-US" b="1" dirty="0" err="1"/>
              <a:t>aumenta</a:t>
            </a:r>
            <a:r>
              <a:rPr lang="en-US" b="1" dirty="0"/>
              <a:t> </a:t>
            </a:r>
            <a:r>
              <a:rPr lang="el-GR" dirty="0"/>
              <a:t>Δ</a:t>
            </a: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7D4F5662-6277-4C81-AA98-C3E27FCA86CC}"/>
              </a:ext>
            </a:extLst>
          </p:cNvPr>
          <p:cNvGrpSpPr/>
          <p:nvPr/>
        </p:nvGrpSpPr>
        <p:grpSpPr>
          <a:xfrm>
            <a:off x="7028780" y="1826327"/>
            <a:ext cx="985532" cy="1568014"/>
            <a:chOff x="7028780" y="1826327"/>
            <a:chExt cx="985532" cy="1568014"/>
          </a:xfrm>
        </p:grpSpPr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A833600F-F90F-4F56-911F-C94CD0565962}"/>
                </a:ext>
              </a:extLst>
            </p:cNvPr>
            <p:cNvGrpSpPr/>
            <p:nvPr/>
          </p:nvGrpSpPr>
          <p:grpSpPr>
            <a:xfrm>
              <a:off x="7028780" y="1826327"/>
              <a:ext cx="891103" cy="968002"/>
              <a:chOff x="6208652" y="2137690"/>
              <a:chExt cx="891103" cy="968002"/>
            </a:xfrm>
          </p:grpSpPr>
          <p:pic>
            <p:nvPicPr>
              <p:cNvPr id="171" name="Picture 50" descr="Emojipedia Meat Primal Cut Noto Fonts, PNG, 1024x1024px, Emoji ...">
                <a:extLst>
                  <a:ext uri="{FF2B5EF4-FFF2-40B4-BE49-F238E27FC236}">
                    <a16:creationId xmlns:a16="http://schemas.microsoft.com/office/drawing/2014/main" id="{4E5901F4-CB34-4B26-99F9-BA9F4EE6968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21448" y="2597459"/>
                <a:ext cx="508233" cy="5082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2" name="Picture 24" descr="Corn svg, Picture #907167 corn svg">
                <a:extLst>
                  <a:ext uri="{FF2B5EF4-FFF2-40B4-BE49-F238E27FC236}">
                    <a16:creationId xmlns:a16="http://schemas.microsoft.com/office/drawing/2014/main" id="{8B7A8239-E4EB-4F55-B204-629BC6DB93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65662" y="2137690"/>
                <a:ext cx="534093" cy="57836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3" name="Picture 40" descr="Cheese | Clip art, Free clip art, Art">
                <a:extLst>
                  <a:ext uri="{FF2B5EF4-FFF2-40B4-BE49-F238E27FC236}">
                    <a16:creationId xmlns:a16="http://schemas.microsoft.com/office/drawing/2014/main" id="{EB3B61A7-DC2E-4850-B57F-91CB6B80D6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6208652" y="2346534"/>
                <a:ext cx="397865" cy="4404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BEC45E0D-FF07-441D-91F4-A82F672A1140}"/>
                </a:ext>
              </a:extLst>
            </p:cNvPr>
            <p:cNvGrpSpPr/>
            <p:nvPr/>
          </p:nvGrpSpPr>
          <p:grpSpPr>
            <a:xfrm>
              <a:off x="7123209" y="2426339"/>
              <a:ext cx="891103" cy="968002"/>
              <a:chOff x="6208652" y="2137690"/>
              <a:chExt cx="891103" cy="968002"/>
            </a:xfrm>
          </p:grpSpPr>
          <p:pic>
            <p:nvPicPr>
              <p:cNvPr id="175" name="Picture 50" descr="Emojipedia Meat Primal Cut Noto Fonts, PNG, 1024x1024px, Emoji ...">
                <a:extLst>
                  <a:ext uri="{FF2B5EF4-FFF2-40B4-BE49-F238E27FC236}">
                    <a16:creationId xmlns:a16="http://schemas.microsoft.com/office/drawing/2014/main" id="{0F3F01EC-C994-4DE4-91AC-E58DD2FFC6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21448" y="2597459"/>
                <a:ext cx="508233" cy="5082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6" name="Picture 24" descr="Corn svg, Picture #907167 corn svg">
                <a:extLst>
                  <a:ext uri="{FF2B5EF4-FFF2-40B4-BE49-F238E27FC236}">
                    <a16:creationId xmlns:a16="http://schemas.microsoft.com/office/drawing/2014/main" id="{A4F79623-1889-4733-A40E-033D372D77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65662" y="2137690"/>
                <a:ext cx="534093" cy="57836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7" name="Picture 40" descr="Cheese | Clip art, Free clip art, Art">
                <a:extLst>
                  <a:ext uri="{FF2B5EF4-FFF2-40B4-BE49-F238E27FC236}">
                    <a16:creationId xmlns:a16="http://schemas.microsoft.com/office/drawing/2014/main" id="{1FE5EDD9-B7F2-4153-A72C-39E634547FC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6208652" y="2346534"/>
                <a:ext cx="397865" cy="4404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C6EC3A45-6B77-402A-B7E9-28880E181F41}"/>
              </a:ext>
            </a:extLst>
          </p:cNvPr>
          <p:cNvGrpSpPr/>
          <p:nvPr/>
        </p:nvGrpSpPr>
        <p:grpSpPr>
          <a:xfrm>
            <a:off x="1449529" y="1028836"/>
            <a:ext cx="1084854" cy="2121634"/>
            <a:chOff x="1449529" y="1028836"/>
            <a:chExt cx="1084854" cy="2121634"/>
          </a:xfrm>
        </p:grpSpPr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9F77E5FD-FA70-4A6E-B1F0-DBDD3CED4661}"/>
                </a:ext>
              </a:extLst>
            </p:cNvPr>
            <p:cNvSpPr/>
            <p:nvPr/>
          </p:nvSpPr>
          <p:spPr>
            <a:xfrm>
              <a:off x="1449529" y="2046884"/>
              <a:ext cx="1084854" cy="1103586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  <p:sp>
          <p:nvSpPr>
            <p:cNvPr id="125" name="Arrow: Right 124">
              <a:extLst>
                <a:ext uri="{FF2B5EF4-FFF2-40B4-BE49-F238E27FC236}">
                  <a16:creationId xmlns:a16="http://schemas.microsoft.com/office/drawing/2014/main" id="{28112AF8-20B3-4734-BF24-D786AE6D3573}"/>
                </a:ext>
              </a:extLst>
            </p:cNvPr>
            <p:cNvSpPr/>
            <p:nvPr/>
          </p:nvSpPr>
          <p:spPr>
            <a:xfrm rot="16200000">
              <a:off x="1480234" y="1165099"/>
              <a:ext cx="1003480" cy="730953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</p:grpSp>
      <p:sp>
        <p:nvSpPr>
          <p:cNvPr id="183" name="Rectangle 182">
            <a:extLst>
              <a:ext uri="{FF2B5EF4-FFF2-40B4-BE49-F238E27FC236}">
                <a16:creationId xmlns:a16="http://schemas.microsoft.com/office/drawing/2014/main" id="{E5AC2BBD-4541-41C4-B29D-29147B6236B7}"/>
              </a:ext>
            </a:extLst>
          </p:cNvPr>
          <p:cNvSpPr/>
          <p:nvPr/>
        </p:nvSpPr>
        <p:spPr>
          <a:xfrm>
            <a:off x="3317818" y="588134"/>
            <a:ext cx="1025110" cy="624577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185" name="Picture 68" descr="Tractor Icon of Flat style - Available in SVG, PNG, EPS, AI &amp; Icon ...">
            <a:extLst>
              <a:ext uri="{FF2B5EF4-FFF2-40B4-BE49-F238E27FC236}">
                <a16:creationId xmlns:a16="http://schemas.microsoft.com/office/drawing/2014/main" id="{166D562B-983F-4BB3-9E5D-61D94BEB9B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39062" y="3082035"/>
            <a:ext cx="558320" cy="558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Picture 187" descr="A picture containing monitor, clock, sitting, screen&#10;&#10;Description automatically generated">
            <a:extLst>
              <a:ext uri="{FF2B5EF4-FFF2-40B4-BE49-F238E27FC236}">
                <a16:creationId xmlns:a16="http://schemas.microsoft.com/office/drawing/2014/main" id="{FDACC436-B9DC-4EB0-867F-367653D8D87D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42736" y="4358195"/>
            <a:ext cx="754796" cy="754796"/>
          </a:xfrm>
          <a:prstGeom prst="rect">
            <a:avLst/>
          </a:prstGeom>
        </p:spPr>
      </p:pic>
      <p:pic>
        <p:nvPicPr>
          <p:cNvPr id="189" name="Picture 28" descr="Soil with crops | Free SVG">
            <a:extLst>
              <a:ext uri="{FF2B5EF4-FFF2-40B4-BE49-F238E27FC236}">
                <a16:creationId xmlns:a16="http://schemas.microsoft.com/office/drawing/2014/main" id="{602242B9-898D-4CF4-9663-A23ED76BB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656" y="5528379"/>
            <a:ext cx="797691" cy="39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Picture 28" descr="Soil with crops | Free SVG">
            <a:extLst>
              <a:ext uri="{FF2B5EF4-FFF2-40B4-BE49-F238E27FC236}">
                <a16:creationId xmlns:a16="http://schemas.microsoft.com/office/drawing/2014/main" id="{7F334CC3-03AF-4401-A5E7-BFAFEFD3E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60162" y="5187857"/>
            <a:ext cx="797691" cy="39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Picture 28" descr="Soil with crops | Free SVG">
            <a:extLst>
              <a:ext uri="{FF2B5EF4-FFF2-40B4-BE49-F238E27FC236}">
                <a16:creationId xmlns:a16="http://schemas.microsoft.com/office/drawing/2014/main" id="{66DF2A74-7FA3-40A0-8A03-61DB9BA98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91683" y="5597458"/>
            <a:ext cx="797691" cy="39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Picture 36" descr="Ocean, rough, sea, seas, wave, waves, weather icon">
            <a:extLst>
              <a:ext uri="{FF2B5EF4-FFF2-40B4-BE49-F238E27FC236}">
                <a16:creationId xmlns:a16="http://schemas.microsoft.com/office/drawing/2014/main" id="{E750FB38-CB5F-49D0-AB1C-2460946AC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43379" y="6306179"/>
            <a:ext cx="911012" cy="562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Picture 36" descr="Ocean, rough, sea, seas, wave, waves, weather icon">
            <a:extLst>
              <a:ext uri="{FF2B5EF4-FFF2-40B4-BE49-F238E27FC236}">
                <a16:creationId xmlns:a16="http://schemas.microsoft.com/office/drawing/2014/main" id="{A3F5E978-2E5F-47E1-98DA-B3C58477D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25068" y="6374108"/>
            <a:ext cx="911012" cy="562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Picture 36" descr="Ocean, rough, sea, seas, wave, waves, weather icon">
            <a:extLst>
              <a:ext uri="{FF2B5EF4-FFF2-40B4-BE49-F238E27FC236}">
                <a16:creationId xmlns:a16="http://schemas.microsoft.com/office/drawing/2014/main" id="{0F502174-5C26-4269-9065-08F43084F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83298" y="5826268"/>
            <a:ext cx="911012" cy="562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Picture 36" descr="Ocean, rough, sea, seas, wave, waves, weather icon">
            <a:extLst>
              <a:ext uri="{FF2B5EF4-FFF2-40B4-BE49-F238E27FC236}">
                <a16:creationId xmlns:a16="http://schemas.microsoft.com/office/drawing/2014/main" id="{5788E5E7-9DFB-4F44-85F6-F8618F9F1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34322" y="5856369"/>
            <a:ext cx="911012" cy="562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9" name="Group 198">
            <a:extLst>
              <a:ext uri="{FF2B5EF4-FFF2-40B4-BE49-F238E27FC236}">
                <a16:creationId xmlns:a16="http://schemas.microsoft.com/office/drawing/2014/main" id="{24EF74EB-4D4B-41F1-9AE1-00DE56D0D2A0}"/>
              </a:ext>
            </a:extLst>
          </p:cNvPr>
          <p:cNvGrpSpPr/>
          <p:nvPr/>
        </p:nvGrpSpPr>
        <p:grpSpPr>
          <a:xfrm>
            <a:off x="3293646" y="2083264"/>
            <a:ext cx="1084854" cy="2121634"/>
            <a:chOff x="1449529" y="1028836"/>
            <a:chExt cx="1084854" cy="2121634"/>
          </a:xfrm>
        </p:grpSpPr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8875AC34-83A7-4348-AD3F-65B44C9CF095}"/>
                </a:ext>
              </a:extLst>
            </p:cNvPr>
            <p:cNvSpPr/>
            <p:nvPr/>
          </p:nvSpPr>
          <p:spPr>
            <a:xfrm>
              <a:off x="1449529" y="2046884"/>
              <a:ext cx="1084854" cy="1103586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  <p:sp>
          <p:nvSpPr>
            <p:cNvPr id="201" name="Arrow: Right 200">
              <a:extLst>
                <a:ext uri="{FF2B5EF4-FFF2-40B4-BE49-F238E27FC236}">
                  <a16:creationId xmlns:a16="http://schemas.microsoft.com/office/drawing/2014/main" id="{E77722FD-7EE8-4C69-A1D0-317E5697AF2E}"/>
                </a:ext>
              </a:extLst>
            </p:cNvPr>
            <p:cNvSpPr/>
            <p:nvPr/>
          </p:nvSpPr>
          <p:spPr>
            <a:xfrm rot="16200000">
              <a:off x="1480234" y="1165099"/>
              <a:ext cx="1003480" cy="730953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 dirty="0"/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DEC900FD-641C-41D2-B751-BFE31EC85636}"/>
              </a:ext>
            </a:extLst>
          </p:cNvPr>
          <p:cNvGrpSpPr/>
          <p:nvPr/>
        </p:nvGrpSpPr>
        <p:grpSpPr>
          <a:xfrm>
            <a:off x="1494941" y="1975380"/>
            <a:ext cx="1084854" cy="2121634"/>
            <a:chOff x="1449529" y="1028836"/>
            <a:chExt cx="1084854" cy="2121634"/>
          </a:xfrm>
        </p:grpSpPr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096441AC-A17B-4085-A75E-6C3EF93E8365}"/>
                </a:ext>
              </a:extLst>
            </p:cNvPr>
            <p:cNvSpPr/>
            <p:nvPr/>
          </p:nvSpPr>
          <p:spPr>
            <a:xfrm>
              <a:off x="1449529" y="2046884"/>
              <a:ext cx="1084854" cy="1103586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  <p:sp>
          <p:nvSpPr>
            <p:cNvPr id="204" name="Arrow: Right 203">
              <a:extLst>
                <a:ext uri="{FF2B5EF4-FFF2-40B4-BE49-F238E27FC236}">
                  <a16:creationId xmlns:a16="http://schemas.microsoft.com/office/drawing/2014/main" id="{F971572C-1B65-4FFE-A063-231DC1E64FDC}"/>
                </a:ext>
              </a:extLst>
            </p:cNvPr>
            <p:cNvSpPr/>
            <p:nvPr/>
          </p:nvSpPr>
          <p:spPr>
            <a:xfrm rot="16200000">
              <a:off x="1480234" y="1165099"/>
              <a:ext cx="1003480" cy="730953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</p:grpSp>
      <p:sp>
        <p:nvSpPr>
          <p:cNvPr id="205" name="Rectangle 204">
            <a:extLst>
              <a:ext uri="{FF2B5EF4-FFF2-40B4-BE49-F238E27FC236}">
                <a16:creationId xmlns:a16="http://schemas.microsoft.com/office/drawing/2014/main" id="{4D4A070C-6AFF-4D3F-9BF8-C34FEF50D557}"/>
              </a:ext>
            </a:extLst>
          </p:cNvPr>
          <p:cNvSpPr/>
          <p:nvPr/>
        </p:nvSpPr>
        <p:spPr>
          <a:xfrm>
            <a:off x="4289868" y="603560"/>
            <a:ext cx="1025110" cy="624577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E8486832-9011-42E8-A441-2AB661E5E210}"/>
              </a:ext>
            </a:extLst>
          </p:cNvPr>
          <p:cNvGrpSpPr/>
          <p:nvPr/>
        </p:nvGrpSpPr>
        <p:grpSpPr>
          <a:xfrm>
            <a:off x="4495373" y="2615699"/>
            <a:ext cx="843349" cy="566942"/>
            <a:chOff x="4342973" y="2463299"/>
            <a:chExt cx="843349" cy="566942"/>
          </a:xfrm>
        </p:grpSpPr>
        <p:pic>
          <p:nvPicPr>
            <p:cNvPr id="207" name="Picture 76" descr="Wood log clipart vector royalty free stock Wood Log Png - Animated Wooden Log Clipart - Full Size ... vector royalty free stock">
              <a:extLst>
                <a:ext uri="{FF2B5EF4-FFF2-40B4-BE49-F238E27FC236}">
                  <a16:creationId xmlns:a16="http://schemas.microsoft.com/office/drawing/2014/main" id="{97AEFEC3-2E89-42B4-A617-4F927F4BE6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6382" y="2821073"/>
              <a:ext cx="819940" cy="2091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8" name="Picture 78" descr="Wood log clipart clipart Free Hollow Log Cliparts, Download Free Clip Art, Free Clip Art on ... clipart">
              <a:extLst>
                <a:ext uri="{FF2B5EF4-FFF2-40B4-BE49-F238E27FC236}">
                  <a16:creationId xmlns:a16="http://schemas.microsoft.com/office/drawing/2014/main" id="{E9B4D9CD-3607-455B-A1CD-9169CA14F7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2973" y="2463299"/>
              <a:ext cx="812178" cy="2994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9" name="Picture 84" descr="Bank box, vault icon">
            <a:extLst>
              <a:ext uri="{FF2B5EF4-FFF2-40B4-BE49-F238E27FC236}">
                <a16:creationId xmlns:a16="http://schemas.microsoft.com/office/drawing/2014/main" id="{A8A7BFD6-28B6-4875-8ED0-3ED18D211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08843" y="4304067"/>
            <a:ext cx="819940" cy="819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Picture 36" descr="Ocean, rough, sea, seas, wave, waves, weather icon">
            <a:extLst>
              <a:ext uri="{FF2B5EF4-FFF2-40B4-BE49-F238E27FC236}">
                <a16:creationId xmlns:a16="http://schemas.microsoft.com/office/drawing/2014/main" id="{55E2DFAD-6A36-49DD-8823-40D67F034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46868" y="5818554"/>
            <a:ext cx="911012" cy="562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Picture 36" descr="Ocean, rough, sea, seas, wave, waves, weather icon">
            <a:extLst>
              <a:ext uri="{FF2B5EF4-FFF2-40B4-BE49-F238E27FC236}">
                <a16:creationId xmlns:a16="http://schemas.microsoft.com/office/drawing/2014/main" id="{CAE2D682-7117-4F46-8881-A0BB1827D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02537" y="6295735"/>
            <a:ext cx="911012" cy="562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2" name="Group 211">
            <a:extLst>
              <a:ext uri="{FF2B5EF4-FFF2-40B4-BE49-F238E27FC236}">
                <a16:creationId xmlns:a16="http://schemas.microsoft.com/office/drawing/2014/main" id="{3C026757-3AB0-4DB2-837A-210720705EDE}"/>
              </a:ext>
            </a:extLst>
          </p:cNvPr>
          <p:cNvGrpSpPr/>
          <p:nvPr/>
        </p:nvGrpSpPr>
        <p:grpSpPr>
          <a:xfrm>
            <a:off x="3310357" y="3070068"/>
            <a:ext cx="1084854" cy="2121634"/>
            <a:chOff x="1449529" y="1028836"/>
            <a:chExt cx="1084854" cy="2121634"/>
          </a:xfrm>
        </p:grpSpPr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D07EF775-3E0F-4A94-B31C-A2017964E8AD}"/>
                </a:ext>
              </a:extLst>
            </p:cNvPr>
            <p:cNvSpPr/>
            <p:nvPr/>
          </p:nvSpPr>
          <p:spPr>
            <a:xfrm>
              <a:off x="1449529" y="2046884"/>
              <a:ext cx="1084854" cy="1103586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  <p:sp>
          <p:nvSpPr>
            <p:cNvPr id="214" name="Arrow: Right 213">
              <a:extLst>
                <a:ext uri="{FF2B5EF4-FFF2-40B4-BE49-F238E27FC236}">
                  <a16:creationId xmlns:a16="http://schemas.microsoft.com/office/drawing/2014/main" id="{8CA37AA5-3397-4520-84CC-F2271DC868B4}"/>
                </a:ext>
              </a:extLst>
            </p:cNvPr>
            <p:cNvSpPr/>
            <p:nvPr/>
          </p:nvSpPr>
          <p:spPr>
            <a:xfrm rot="16200000">
              <a:off x="1480234" y="1165099"/>
              <a:ext cx="1003480" cy="730953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45BAF1F9-F1F2-474A-A842-696ECDA09379}"/>
              </a:ext>
            </a:extLst>
          </p:cNvPr>
          <p:cNvGrpSpPr/>
          <p:nvPr/>
        </p:nvGrpSpPr>
        <p:grpSpPr>
          <a:xfrm>
            <a:off x="1484039" y="2868276"/>
            <a:ext cx="1084854" cy="2121634"/>
            <a:chOff x="1449529" y="1028836"/>
            <a:chExt cx="1084854" cy="2121634"/>
          </a:xfrm>
        </p:grpSpPr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45064D3F-1B4E-4EBA-BCC6-2A1DF97C0B89}"/>
                </a:ext>
              </a:extLst>
            </p:cNvPr>
            <p:cNvSpPr/>
            <p:nvPr/>
          </p:nvSpPr>
          <p:spPr>
            <a:xfrm>
              <a:off x="1449529" y="2046884"/>
              <a:ext cx="1084854" cy="1103586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  <p:sp>
          <p:nvSpPr>
            <p:cNvPr id="217" name="Arrow: Right 216">
              <a:extLst>
                <a:ext uri="{FF2B5EF4-FFF2-40B4-BE49-F238E27FC236}">
                  <a16:creationId xmlns:a16="http://schemas.microsoft.com/office/drawing/2014/main" id="{DF8EEDF3-ED95-43BF-9D21-F3C51D0EEEDC}"/>
                </a:ext>
              </a:extLst>
            </p:cNvPr>
            <p:cNvSpPr/>
            <p:nvPr/>
          </p:nvSpPr>
          <p:spPr>
            <a:xfrm rot="16200000">
              <a:off x="1480234" y="1165099"/>
              <a:ext cx="1003480" cy="730953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</p:grpSp>
      <p:sp>
        <p:nvSpPr>
          <p:cNvPr id="218" name="Rectangle 217">
            <a:extLst>
              <a:ext uri="{FF2B5EF4-FFF2-40B4-BE49-F238E27FC236}">
                <a16:creationId xmlns:a16="http://schemas.microsoft.com/office/drawing/2014/main" id="{2AE4FFD9-1C05-4417-86D9-CF01116351F9}"/>
              </a:ext>
            </a:extLst>
          </p:cNvPr>
          <p:cNvSpPr/>
          <p:nvPr/>
        </p:nvSpPr>
        <p:spPr>
          <a:xfrm>
            <a:off x="5166960" y="594891"/>
            <a:ext cx="1025110" cy="624577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3D7D2194-2C8B-4674-AD5D-3F85A5607DED}"/>
              </a:ext>
            </a:extLst>
          </p:cNvPr>
          <p:cNvGrpSpPr/>
          <p:nvPr/>
        </p:nvGrpSpPr>
        <p:grpSpPr>
          <a:xfrm>
            <a:off x="5536376" y="2252799"/>
            <a:ext cx="686340" cy="638928"/>
            <a:chOff x="5273883" y="2360113"/>
            <a:chExt cx="686340" cy="638928"/>
          </a:xfrm>
        </p:grpSpPr>
        <p:pic>
          <p:nvPicPr>
            <p:cNvPr id="220" name="Picture 86">
              <a:extLst>
                <a:ext uri="{FF2B5EF4-FFF2-40B4-BE49-F238E27FC236}">
                  <a16:creationId xmlns:a16="http://schemas.microsoft.com/office/drawing/2014/main" id="{DD425A12-403B-4A54-BB52-E78BD8303C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3883" y="2360113"/>
              <a:ext cx="440094" cy="4400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1" name="Picture 86">
              <a:extLst>
                <a:ext uri="{FF2B5EF4-FFF2-40B4-BE49-F238E27FC236}">
                  <a16:creationId xmlns:a16="http://schemas.microsoft.com/office/drawing/2014/main" id="{F3DCCA1D-15FC-4D4E-A088-4ACF026A9D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0129" y="2558947"/>
              <a:ext cx="440094" cy="4400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22" name="Picture 221" descr="A close up of a computer&#10;&#10;Description automatically generated">
            <a:extLst>
              <a:ext uri="{FF2B5EF4-FFF2-40B4-BE49-F238E27FC236}">
                <a16:creationId xmlns:a16="http://schemas.microsoft.com/office/drawing/2014/main" id="{114E45EA-D895-491E-8E52-3A96BF16AD10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46544" y="3087273"/>
            <a:ext cx="647444" cy="564355"/>
          </a:xfrm>
          <a:prstGeom prst="rect">
            <a:avLst/>
          </a:prstGeom>
        </p:spPr>
      </p:pic>
      <p:pic>
        <p:nvPicPr>
          <p:cNvPr id="223" name="Picture 222" descr="A close up of a computer&#10;&#10;Description automatically generated">
            <a:extLst>
              <a:ext uri="{FF2B5EF4-FFF2-40B4-BE49-F238E27FC236}">
                <a16:creationId xmlns:a16="http://schemas.microsoft.com/office/drawing/2014/main" id="{8D12996F-3502-4CC9-A78A-367CD004C077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7104" y="3592120"/>
            <a:ext cx="647444" cy="564355"/>
          </a:xfrm>
          <a:prstGeom prst="rect">
            <a:avLst/>
          </a:prstGeom>
        </p:spPr>
      </p:pic>
      <p:sp>
        <p:nvSpPr>
          <p:cNvPr id="225" name="TextBox 224">
            <a:extLst>
              <a:ext uri="{FF2B5EF4-FFF2-40B4-BE49-F238E27FC236}">
                <a16:creationId xmlns:a16="http://schemas.microsoft.com/office/drawing/2014/main" id="{72770352-B206-44ED-AE69-1C27C94E0C3F}"/>
              </a:ext>
            </a:extLst>
          </p:cNvPr>
          <p:cNvSpPr txBox="1"/>
          <p:nvPr/>
        </p:nvSpPr>
        <p:spPr>
          <a:xfrm>
            <a:off x="8294922" y="3474047"/>
            <a:ext cx="3225274" cy="5847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err="1"/>
              <a:t>Pequeños</a:t>
            </a:r>
            <a:r>
              <a:rPr lang="en-US" b="1" dirty="0"/>
              <a:t> </a:t>
            </a:r>
            <a:r>
              <a:rPr lang="en-US" b="1" dirty="0" err="1"/>
              <a:t>cambios</a:t>
            </a:r>
            <a:r>
              <a:rPr lang="en-US" b="1" dirty="0"/>
              <a:t> </a:t>
            </a:r>
            <a:r>
              <a:rPr lang="en-US" b="1" dirty="0" err="1"/>
              <a:t>tienen</a:t>
            </a:r>
            <a:r>
              <a:rPr lang="en-US" b="1" dirty="0"/>
              <a:t> </a:t>
            </a:r>
            <a:r>
              <a:rPr lang="en-US" b="1" dirty="0" err="1"/>
              <a:t>efectos</a:t>
            </a:r>
            <a:r>
              <a:rPr lang="en-US" b="1" dirty="0"/>
              <a:t> </a:t>
            </a:r>
            <a:r>
              <a:rPr lang="en-US" b="1" dirty="0" err="1"/>
              <a:t>multiplicativos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la </a:t>
            </a:r>
            <a:r>
              <a:rPr lang="en-US" b="1" dirty="0" err="1"/>
              <a:t>economía</a:t>
            </a:r>
            <a:r>
              <a:rPr lang="en-US" b="1" dirty="0"/>
              <a:t>.</a:t>
            </a:r>
            <a:endParaRPr lang="el-GR" dirty="0"/>
          </a:p>
        </p:txBody>
      </p: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F86F3BF9-1AF7-45F8-BD44-6CEA45868E05}"/>
              </a:ext>
            </a:extLst>
          </p:cNvPr>
          <p:cNvGrpSpPr/>
          <p:nvPr/>
        </p:nvGrpSpPr>
        <p:grpSpPr>
          <a:xfrm>
            <a:off x="5976470" y="5212175"/>
            <a:ext cx="5543726" cy="1410715"/>
            <a:chOff x="5976470" y="5212175"/>
            <a:chExt cx="5543726" cy="1410715"/>
          </a:xfrm>
        </p:grpSpPr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9CDED0C5-70B5-4361-87C6-065C5F4B4DF9}"/>
                </a:ext>
              </a:extLst>
            </p:cNvPr>
            <p:cNvSpPr txBox="1"/>
            <p:nvPr/>
          </p:nvSpPr>
          <p:spPr>
            <a:xfrm>
              <a:off x="8294922" y="5212175"/>
              <a:ext cx="3225274" cy="132343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/>
                <a:t>Más </a:t>
              </a:r>
              <a:r>
                <a:rPr lang="en-US" b="1" dirty="0" err="1"/>
                <a:t>recursos</a:t>
              </a:r>
              <a:r>
                <a:rPr lang="en-US" b="1" dirty="0"/>
                <a:t> se </a:t>
              </a:r>
              <a:r>
                <a:rPr lang="en-US" b="1" dirty="0" err="1"/>
                <a:t>utilizan</a:t>
              </a:r>
              <a:r>
                <a:rPr lang="en-US" dirty="0"/>
                <a:t>, no solo </a:t>
              </a:r>
              <a:r>
                <a:rPr lang="en-US" dirty="0" err="1"/>
                <a:t>en</a:t>
              </a:r>
              <a:r>
                <a:rPr lang="en-US" dirty="0"/>
                <a:t> </a:t>
              </a:r>
              <a:r>
                <a:rPr lang="en-US" dirty="0" err="1"/>
                <a:t>proporción</a:t>
              </a:r>
              <a:r>
                <a:rPr lang="en-US" dirty="0"/>
                <a:t> a la </a:t>
              </a:r>
              <a:r>
                <a:rPr lang="en-US" dirty="0" err="1"/>
                <a:t>demanda</a:t>
              </a:r>
              <a:r>
                <a:rPr lang="en-US" dirty="0"/>
                <a:t> </a:t>
              </a:r>
              <a:r>
                <a:rPr lang="en-US" dirty="0" err="1"/>
                <a:t>adicional</a:t>
              </a:r>
              <a:r>
                <a:rPr lang="en-US" dirty="0"/>
                <a:t>, </a:t>
              </a:r>
              <a:r>
                <a:rPr lang="en-US" dirty="0" err="1"/>
                <a:t>sino</a:t>
              </a:r>
              <a:r>
                <a:rPr lang="en-US" dirty="0"/>
                <a:t> a los </a:t>
              </a:r>
              <a:r>
                <a:rPr lang="en-US" dirty="0" err="1"/>
                <a:t>efectos</a:t>
              </a:r>
              <a:r>
                <a:rPr lang="en-US" dirty="0"/>
                <a:t> </a:t>
              </a:r>
              <a:r>
                <a:rPr lang="en-US" dirty="0" err="1"/>
                <a:t>directos</a:t>
              </a:r>
              <a:r>
                <a:rPr lang="en-US" dirty="0"/>
                <a:t> e </a:t>
              </a:r>
              <a:r>
                <a:rPr lang="en-US" dirty="0" err="1"/>
                <a:t>indirectos</a:t>
              </a:r>
              <a:r>
                <a:rPr lang="en-US" dirty="0"/>
                <a:t> que </a:t>
              </a:r>
              <a:r>
                <a:rPr lang="en-US" dirty="0" err="1"/>
                <a:t>suceden</a:t>
              </a:r>
              <a:r>
                <a:rPr lang="en-US" dirty="0"/>
                <a:t> </a:t>
              </a:r>
              <a:r>
                <a:rPr lang="en-US" dirty="0" err="1"/>
                <a:t>en</a:t>
              </a:r>
              <a:r>
                <a:rPr lang="en-US" dirty="0"/>
                <a:t> </a:t>
              </a:r>
              <a:r>
                <a:rPr lang="en-US" dirty="0" err="1"/>
                <a:t>toda</a:t>
              </a:r>
              <a:r>
                <a:rPr lang="en-US" dirty="0"/>
                <a:t> la </a:t>
              </a:r>
              <a:r>
                <a:rPr lang="en-US" dirty="0" err="1"/>
                <a:t>economía</a:t>
              </a:r>
              <a:r>
                <a:rPr lang="en-US" dirty="0"/>
                <a:t>.</a:t>
              </a:r>
              <a:endParaRPr lang="el-GR" dirty="0"/>
            </a:p>
          </p:txBody>
        </p:sp>
        <p:sp>
          <p:nvSpPr>
            <p:cNvPr id="1027" name="Arrow: Right 1026">
              <a:extLst>
                <a:ext uri="{FF2B5EF4-FFF2-40B4-BE49-F238E27FC236}">
                  <a16:creationId xmlns:a16="http://schemas.microsoft.com/office/drawing/2014/main" id="{AE4A4820-41ED-4270-9D7D-F3FA01CE9398}"/>
                </a:ext>
              </a:extLst>
            </p:cNvPr>
            <p:cNvSpPr/>
            <p:nvPr/>
          </p:nvSpPr>
          <p:spPr>
            <a:xfrm>
              <a:off x="5976470" y="5255029"/>
              <a:ext cx="2318452" cy="1367861"/>
            </a:xfrm>
            <a:prstGeom prst="righ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GT"/>
            </a:p>
          </p:txBody>
        </p:sp>
      </p:grpSp>
    </p:spTree>
    <p:extLst>
      <p:ext uri="{BB962C8B-B14F-4D97-AF65-F5344CB8AC3E}">
        <p14:creationId xmlns:p14="http://schemas.microsoft.com/office/powerpoint/2010/main" val="65892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animBg="1"/>
      <p:bldP spid="183" grpId="0" animBg="1"/>
      <p:bldP spid="183" grpId="1" animBg="1"/>
      <p:bldP spid="205" grpId="0" animBg="1"/>
      <p:bldP spid="205" grpId="1" animBg="1"/>
      <p:bldP spid="218" grpId="0" animBg="1"/>
      <p:bldP spid="218" grpId="1" animBg="1"/>
      <p:bldP spid="2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28EDD0-3473-BC36-FF9D-D4C5EFCF2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Relaciones</a:t>
            </a:r>
            <a:r>
              <a:rPr lang="en-US" dirty="0"/>
              <a:t> </a:t>
            </a:r>
            <a:r>
              <a:rPr lang="en-US" dirty="0" err="1"/>
              <a:t>fundamentales</a:t>
            </a:r>
            <a:endParaRPr lang="en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5994A1A-686D-96C3-BA66-7F3751A868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8204" y="1825625"/>
            <a:ext cx="963559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603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BA6BD5-F4DD-CFC6-4A28-C12DE6D6A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Representación</a:t>
            </a:r>
            <a:r>
              <a:rPr lang="en-US" dirty="0"/>
              <a:t> Compacta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FC0DD0F-60DB-E6E6-5A3D-69456F1A7F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6505" y="1825625"/>
            <a:ext cx="777899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08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01350-6515-E83A-64FD-CB8D66A4E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Coeficiente</a:t>
            </a:r>
            <a:r>
              <a:rPr lang="en-US" dirty="0"/>
              <a:t> de </a:t>
            </a:r>
            <a:r>
              <a:rPr lang="en-US" dirty="0" err="1"/>
              <a:t>Insumo-Producto</a:t>
            </a:r>
            <a:endParaRPr lang="en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C29AC21-6656-46DE-C5D3-EC1E551F08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4611" y="1825625"/>
            <a:ext cx="824277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520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33A1FF-7268-91C2-207B-C50912CF6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Coeficientes</a:t>
            </a:r>
            <a:r>
              <a:rPr lang="en-US" dirty="0"/>
              <a:t> para </a:t>
            </a:r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sectores</a:t>
            </a:r>
            <a:endParaRPr lang="en-US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47C34EA3-2089-B443-F64B-7B22321ED2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0227" y="1825625"/>
            <a:ext cx="877154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789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C63317-D44E-3A85-45A1-ACCDF6E40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 </a:t>
            </a:r>
            <a:r>
              <a:rPr lang="en-US" dirty="0" err="1"/>
              <a:t>modelo</a:t>
            </a:r>
            <a:r>
              <a:rPr lang="en-US" dirty="0"/>
              <a:t> de </a:t>
            </a:r>
            <a:r>
              <a:rPr lang="en-US" dirty="0" err="1"/>
              <a:t>insumo-producto</a:t>
            </a:r>
            <a:endParaRPr lang="en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5298EFE-CF71-B880-8248-7C4DCA8656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8620" y="1825625"/>
            <a:ext cx="78147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7564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83</Words>
  <Application>Microsoft Office PowerPoint</Application>
  <PresentationFormat>Panorámica</PresentationFormat>
  <Paragraphs>22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de Office</vt:lpstr>
      <vt:lpstr>Insumo-Producto Satélite</vt:lpstr>
      <vt:lpstr>Presentación de PowerPoint</vt:lpstr>
      <vt:lpstr>Relaciones fundamentales</vt:lpstr>
      <vt:lpstr>Representación Compacta</vt:lpstr>
      <vt:lpstr>Coeficiente de Insumo-Producto</vt:lpstr>
      <vt:lpstr>Coeficientes para todos los sectores</vt:lpstr>
      <vt:lpstr>El modelo de insumo-producto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Renato Vargas</dc:creator>
  <cp:lastModifiedBy>Renato Vargas</cp:lastModifiedBy>
  <cp:revision>2</cp:revision>
  <dcterms:created xsi:type="dcterms:W3CDTF">2025-09-04T11:30:32Z</dcterms:created>
  <dcterms:modified xsi:type="dcterms:W3CDTF">2025-09-04T11:37:02Z</dcterms:modified>
</cp:coreProperties>
</file>